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6.jpeg" ContentType="image/jpeg"/>
  <Override PartName="/ppt/media/image4.png" ContentType="image/png"/>
  <Override PartName="/ppt/media/image5.jpeg" ContentType="image/jpeg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1667880"/>
            <a:ext cx="8228880" cy="5309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1667880"/>
            <a:ext cx="8228880" cy="5309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457200" y="1667880"/>
            <a:ext cx="8228880" cy="5309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 hidden="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 hidden="1"/>
          <p:cNvSpPr/>
          <p:nvPr/>
        </p:nvSpPr>
        <p:spPr>
          <a:xfrm>
            <a:off x="64080" y="69840"/>
            <a:ext cx="9012600" cy="6692760"/>
          </a:xfrm>
          <a:prstGeom prst="roundRect">
            <a:avLst>
              <a:gd name="adj" fmla="val 4929"/>
            </a:avLst>
          </a:prstGeom>
          <a:ln w="6480">
            <a:solidFill>
              <a:schemeClr val="tx1">
                <a:alpha val="100000"/>
              </a:schemeClr>
            </a:solidFill>
            <a:round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65160" y="69840"/>
            <a:ext cx="9012600" cy="6691320"/>
          </a:xfrm>
          <a:prstGeom prst="roundRect">
            <a:avLst>
              <a:gd name="adj" fmla="val 4929"/>
            </a:avLst>
          </a:prstGeom>
          <a:blipFill rotWithShape="0">
            <a:blip r:embed="rId3"/>
            <a:tile/>
          </a:blipFill>
          <a:ln w="6480">
            <a:solidFill>
              <a:schemeClr val="tx1">
                <a:alpha val="100000"/>
              </a:schemeClr>
            </a:solidFill>
            <a:round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63000" y="1449360"/>
            <a:ext cx="9020880" cy="15267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80">
            <a:noFill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" name="CustomShape 6"/>
          <p:cNvSpPr/>
          <p:nvPr/>
        </p:nvSpPr>
        <p:spPr>
          <a:xfrm>
            <a:off x="63000" y="1396800"/>
            <a:ext cx="9020880" cy="1198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80">
            <a:noFill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" name="CustomShape 7"/>
          <p:cNvSpPr/>
          <p:nvPr/>
        </p:nvSpPr>
        <p:spPr>
          <a:xfrm>
            <a:off x="63000" y="2976480"/>
            <a:ext cx="9020880" cy="109800"/>
          </a:xfrm>
          <a:prstGeom prst="rect">
            <a:avLst/>
          </a:prstGeom>
          <a:solidFill>
            <a:schemeClr val="accent5"/>
          </a:solidFill>
          <a:ln w="19080">
            <a:noFill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" name="PlaceHolder 8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r>
              <a:rPr b="0" lang="fr-FR" sz="1800" spc="-1" strike="noStrike">
                <a:latin typeface="Arial"/>
              </a:rPr>
              <a:t>Cliquez pour éditer le format du texte-titre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CustomShape 2"/>
          <p:cNvSpPr/>
          <p:nvPr/>
        </p:nvSpPr>
        <p:spPr>
          <a:xfrm>
            <a:off x="64080" y="69840"/>
            <a:ext cx="9012600" cy="6692760"/>
          </a:xfrm>
          <a:prstGeom prst="roundRect">
            <a:avLst>
              <a:gd name="adj" fmla="val 4929"/>
            </a:avLst>
          </a:prstGeom>
          <a:ln w="6480">
            <a:solidFill>
              <a:schemeClr val="tx1">
                <a:alpha val="100000"/>
              </a:schemeClr>
            </a:solidFill>
            <a:round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/>
        </p:style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 hidden="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CustomShape 2" hidden="1"/>
          <p:cNvSpPr/>
          <p:nvPr/>
        </p:nvSpPr>
        <p:spPr>
          <a:xfrm>
            <a:off x="64080" y="69840"/>
            <a:ext cx="9012600" cy="6692760"/>
          </a:xfrm>
          <a:prstGeom prst="roundRect">
            <a:avLst>
              <a:gd name="adj" fmla="val 4929"/>
            </a:avLst>
          </a:prstGeom>
          <a:ln w="6480">
            <a:solidFill>
              <a:schemeClr val="tx1">
                <a:alpha val="100000"/>
              </a:schemeClr>
            </a:solidFill>
            <a:round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/>
        </p:style>
      </p:sp>
      <p:sp>
        <p:nvSpPr>
          <p:cNvPr id="87" name="CustomShape 3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CustomShape 4"/>
          <p:cNvSpPr/>
          <p:nvPr/>
        </p:nvSpPr>
        <p:spPr>
          <a:xfrm>
            <a:off x="65160" y="69840"/>
            <a:ext cx="9012600" cy="6691320"/>
          </a:xfrm>
          <a:prstGeom prst="roundRect">
            <a:avLst>
              <a:gd name="adj" fmla="val 4929"/>
            </a:avLst>
          </a:prstGeom>
          <a:blipFill rotWithShape="0">
            <a:blip r:embed="rId3"/>
            <a:tile/>
          </a:blipFill>
          <a:ln w="6480">
            <a:solidFill>
              <a:schemeClr val="tx1">
                <a:alpha val="100000"/>
              </a:schemeClr>
            </a:solidFill>
            <a:round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/>
        </p:style>
      </p:sp>
      <p:sp>
        <p:nvSpPr>
          <p:cNvPr id="89" name="CustomShape 5"/>
          <p:cNvSpPr/>
          <p:nvPr/>
        </p:nvSpPr>
        <p:spPr>
          <a:xfrm>
            <a:off x="63000" y="1449360"/>
            <a:ext cx="9020880" cy="15267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80">
            <a:noFill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" name="CustomShape 6"/>
          <p:cNvSpPr/>
          <p:nvPr/>
        </p:nvSpPr>
        <p:spPr>
          <a:xfrm>
            <a:off x="63000" y="1396800"/>
            <a:ext cx="9020880" cy="1198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80">
            <a:noFill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" name="CustomShape 7"/>
          <p:cNvSpPr/>
          <p:nvPr/>
        </p:nvSpPr>
        <p:spPr>
          <a:xfrm>
            <a:off x="63000" y="2976480"/>
            <a:ext cx="9020880" cy="109800"/>
          </a:xfrm>
          <a:prstGeom prst="rect">
            <a:avLst/>
          </a:prstGeom>
          <a:solidFill>
            <a:schemeClr val="accent5"/>
          </a:solidFill>
          <a:ln w="19080">
            <a:noFill/>
          </a:ln>
          <a:effectLst>
            <a:outerShdw algn="t" blurRad="38100" dir="5400000" dist="25560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2" name="PlaceHolder 8"/>
          <p:cNvSpPr>
            <a:spLocks noGrp="1"/>
          </p:cNvSpPr>
          <p:nvPr>
            <p:ph type="title"/>
          </p:nvPr>
        </p:nvSpPr>
        <p:spPr>
          <a:xfrm>
            <a:off x="457200" y="166788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r>
              <a:rPr b="0" lang="fr-FR" sz="1800" spc="-1" strike="noStrike">
                <a:latin typeface="Arial"/>
              </a:rPr>
              <a:t>Cliquez pour éditer le format du texte-titre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93" name="PlaceHolder 9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Cliquez pour éditer le format du plan de texte</a:t>
            </a:r>
            <a:endParaRPr b="0" lang="fr-F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Arial"/>
              </a:rPr>
              <a:t>Second niveau de plan</a:t>
            </a:r>
            <a:endParaRPr b="0" lang="fr-F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Troisième niveau de plan</a:t>
            </a:r>
            <a:endParaRPr b="0" lang="fr-F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Arial"/>
              </a:rPr>
              <a:t>Quatrième niveau de plan</a:t>
            </a:r>
            <a:endParaRPr b="0" lang="fr-F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Cinquième niveau de plan</a:t>
            </a:r>
            <a:endParaRPr b="0" lang="fr-F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Sixième niveau de plan</a:t>
            </a:r>
            <a:endParaRPr b="0" lang="fr-F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Septième niveau de plan</a:t>
            </a:r>
            <a:endParaRPr b="0" lang="fr-F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500040" y="3571920"/>
            <a:ext cx="8357400" cy="29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5000"/>
          </a:bodyPr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r>
              <a:rPr b="0" lang="fr-FR" sz="3500" spc="-1" strike="noStrike">
                <a:solidFill>
                  <a:srgbClr val="ac0000"/>
                </a:solidFill>
                <a:latin typeface="Times New Roman"/>
              </a:rPr>
              <a:t>Sous groupe 18</a:t>
            </a:r>
            <a:endParaRPr b="0" lang="fr-FR" sz="35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3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      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Mohamed MAMECHE</a:t>
            </a: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      </a:t>
            </a: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Mahfoudh KERBOUCHE</a:t>
            </a: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                              </a:t>
            </a:r>
            <a:endParaRPr b="0" lang="fr-FR" sz="24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581"/>
              </a:spcBef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Promotrice :Madame M.Mezzi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24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457200" y="1505880"/>
            <a:ext cx="8228880" cy="14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ffffff"/>
                </a:solidFill>
                <a:latin typeface="Times New Roman"/>
              </a:rPr>
              <a:t>Détection des intrus en utilisant la reconnaissance faciale</a:t>
            </a:r>
            <a:endParaRPr b="0" lang="fr-F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785880" y="3357720"/>
            <a:ext cx="7571880" cy="31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r>
              <a:rPr b="0" lang="fr-FR" sz="2800" spc="-1" strike="noStrike">
                <a:solidFill>
                  <a:srgbClr val="000000"/>
                </a:solidFill>
                <a:latin typeface="Perpetua"/>
              </a:rPr>
              <a:t>Peut on concevoir et développer un système de reconnaissance faciale intelligent capable d’être utilisé de façon efficace et éthique dans la vie quotidienne? 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457200" y="1505880"/>
            <a:ext cx="8228880" cy="14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ffffff"/>
                </a:solidFill>
                <a:latin typeface="Times New Roman"/>
              </a:rPr>
              <a:t>Problématique</a:t>
            </a:r>
            <a:endParaRPr b="0" lang="fr-F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1357200" y="3714840"/>
            <a:ext cx="6400080" cy="159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spcBef>
                <a:spcPts val="581"/>
              </a:spcBef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L’objectif est de pouvoir identifier des personnes à travers des cameras, afin de:</a:t>
            </a: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28760" y="1500120"/>
            <a:ext cx="8228880" cy="14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ffffff"/>
                </a:solidFill>
                <a:latin typeface="Times New Roman"/>
              </a:rPr>
              <a:t>Objectifs</a:t>
            </a:r>
            <a:endParaRPr b="0" lang="fr-F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914400" y="274680"/>
            <a:ext cx="77716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b">
            <a:normAutofit/>
          </a:bodyPr>
          <a:p>
            <a:pPr algn="ctr">
              <a:lnSpc>
                <a:spcPct val="100000"/>
              </a:lnSpc>
            </a:pPr>
            <a:r>
              <a:rPr b="0" lang="fr-FR" sz="4000" spc="-1" strike="noStrike">
                <a:solidFill>
                  <a:srgbClr val="ac0000"/>
                </a:solidFill>
                <a:latin typeface="Times New Roman"/>
              </a:rPr>
              <a:t>Sécurisé les établissements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857160" y="1571760"/>
            <a:ext cx="7771680" cy="457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Détecter le visage d’une personne ,puis vérifier s’il appartient à une certaine base de données qui contient les informations (photo, nom, prénom….) du personnel de l’établissement .</a:t>
            </a:r>
            <a:endParaRPr b="0" lang="fr-FR" sz="22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</a:pPr>
            <a:endParaRPr b="0" lang="fr-FR" sz="22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Si la personne n’appartient pas à cette base de données ,le système doit le signaler en mentionnant la camera qui l’a détecter . </a:t>
            </a:r>
            <a:endParaRPr b="0" lang="fr-FR" sz="22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</a:pPr>
            <a:endParaRPr b="0" lang="fr-FR" sz="22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Ce système peut être combiné avec d’autres  mécanismes (ouverture de porte, retirer de l’argent...)</a:t>
            </a:r>
            <a:endParaRPr b="0" lang="fr-F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914400" y="274680"/>
            <a:ext cx="77716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b">
            <a:normAutofit/>
          </a:bodyPr>
          <a:p>
            <a:pPr algn="ctr">
              <a:lnSpc>
                <a:spcPct val="100000"/>
              </a:lnSpc>
            </a:pPr>
            <a:r>
              <a:rPr b="0" lang="fr-FR" sz="4000" spc="-1" strike="noStrike">
                <a:solidFill>
                  <a:srgbClr val="ac0000"/>
                </a:solidFill>
                <a:latin typeface="Times New Roman"/>
              </a:rPr>
              <a:t>Gestion de présence</a:t>
            </a:r>
            <a:r>
              <a:rPr b="0" lang="fr-FR" sz="4000" spc="-1" strike="noStrike">
                <a:solidFill>
                  <a:srgbClr val="ac0000"/>
                </a:solidFill>
                <a:latin typeface="Times New Roman"/>
              </a:rPr>
              <a:t>	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857160" y="1447920"/>
            <a:ext cx="7828920" cy="498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Système de pointage pour le personnel</a:t>
            </a:r>
            <a:endParaRPr b="0" lang="fr-FR" sz="26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Présence d’étudiants</a:t>
            </a: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</p:txBody>
      </p:sp>
      <p:pic>
        <p:nvPicPr>
          <p:cNvPr id="140" name="Image 3" descr=""/>
          <p:cNvPicPr/>
          <p:nvPr/>
        </p:nvPicPr>
        <p:blipFill>
          <a:blip r:embed="rId1"/>
          <a:stretch/>
        </p:blipFill>
        <p:spPr>
          <a:xfrm>
            <a:off x="1357200" y="2428920"/>
            <a:ext cx="6604200" cy="3712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914400" y="274680"/>
            <a:ext cx="77716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b">
            <a:noAutofit/>
          </a:bodyPr>
          <a:p>
            <a:pPr algn="ctr">
              <a:lnSpc>
                <a:spcPct val="100000"/>
              </a:lnSpc>
            </a:pPr>
            <a:r>
              <a:rPr b="0" lang="fr-FR" sz="4000" spc="-1" strike="noStrike">
                <a:solidFill>
                  <a:srgbClr val="ac0000"/>
                </a:solidFill>
                <a:latin typeface="Times New Roman"/>
              </a:rPr>
              <a:t>Consultation des notes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2" name="CustomShape 2"/>
          <p:cNvSpPr/>
          <p:nvPr/>
        </p:nvSpPr>
        <p:spPr>
          <a:xfrm>
            <a:off x="914400" y="1447920"/>
            <a:ext cx="7771680" cy="457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Scanner le visage d’un étudiant afin d’afficher ses notes pour assurer plus d’intimité  </a:t>
            </a: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</p:txBody>
      </p:sp>
      <p:pic>
        <p:nvPicPr>
          <p:cNvPr id="143" name="Image 3" descr=""/>
          <p:cNvPicPr/>
          <p:nvPr/>
        </p:nvPicPr>
        <p:blipFill>
          <a:blip r:embed="rId1"/>
          <a:stretch/>
        </p:blipFill>
        <p:spPr>
          <a:xfrm>
            <a:off x="1008000" y="2880000"/>
            <a:ext cx="6911640" cy="3533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857160" y="285840"/>
            <a:ext cx="77716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b">
            <a:normAutofit fontScale="83000"/>
          </a:bodyPr>
          <a:p>
            <a:pPr algn="ctr">
              <a:lnSpc>
                <a:spcPct val="100000"/>
              </a:lnSpc>
            </a:pPr>
            <a:r>
              <a:rPr b="0" lang="fr-FR" sz="4000" spc="-1" strike="noStrike">
                <a:solidFill>
                  <a:srgbClr val="ac0000"/>
                </a:solidFill>
                <a:latin typeface="Times New Roman"/>
              </a:rPr>
              <a:t>Surveiller le comportement d’une personne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914400" y="1447920"/>
            <a:ext cx="7771680" cy="457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18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L’utiliser aux lycée, CEM, primaire, afin d’analyser les émotions des élèves pour détecter un comportement psychologique anormal</a:t>
            </a: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 </a:t>
            </a:r>
            <a:endParaRPr b="0" lang="fr-FR" sz="26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L’utiliser dans les rues pour prévenir des crimes </a:t>
            </a:r>
            <a:endParaRPr b="0" lang="fr-FR" sz="2600" spc="-1" strike="noStrike">
              <a:latin typeface="Arial"/>
            </a:endParaRPr>
          </a:p>
          <a:p>
            <a:pPr marL="274320" indent="-273600">
              <a:lnSpc>
                <a:spcPct val="100000"/>
              </a:lnSpc>
              <a:spcBef>
                <a:spcPts val="581"/>
              </a:spcBef>
            </a:pPr>
            <a:endParaRPr b="0" lang="fr-F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914400" y="1447920"/>
            <a:ext cx="7771680" cy="457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7000"/>
          </a:bodyPr>
          <a:p>
            <a:pPr marL="274320" indent="-273600" algn="ctr">
              <a:lnSpc>
                <a:spcPct val="100000"/>
              </a:lnSpc>
              <a:spcBef>
                <a:spcPts val="581"/>
              </a:spcBef>
            </a:pPr>
            <a:r>
              <a:rPr b="1" lang="fr-FR" sz="4400" spc="-1" strike="noStrike">
                <a:solidFill>
                  <a:srgbClr val="ac0000"/>
                </a:solidFill>
                <a:latin typeface="Perpetua"/>
              </a:rPr>
              <a:t>Cette fonctionnalité doit contenir une autre sorte d’IA qui est la reconnaissance des émotions du visage et peut être implémentée uniquement si on aura assez de temps </a:t>
            </a:r>
            <a:endParaRPr b="0" lang="fr-FR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457200" y="1935360"/>
            <a:ext cx="822888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fr-FR" sz="4000" spc="-1" strike="noStrike">
                <a:solidFill>
                  <a:srgbClr val="ffffff"/>
                </a:solidFill>
                <a:latin typeface="Times New Roman"/>
              </a:rPr>
              <a:t>Type de l’application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48" name="CustomShape 2"/>
          <p:cNvSpPr/>
          <p:nvPr/>
        </p:nvSpPr>
        <p:spPr>
          <a:xfrm>
            <a:off x="576000" y="3438720"/>
            <a:ext cx="8228880" cy="318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Application Desktop pour Windows</a:t>
            </a: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Possibilité de la rendre compatible avec Linux prochainement.</a:t>
            </a:r>
            <a:endParaRPr b="0" lang="fr-F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1295280" y="3200400"/>
            <a:ext cx="6400080" cy="29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Conception du projet (interface graphique, base de donnée, classes…)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Réalisation et test du système de la reconnaissance faciale 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Comparaison entre 2 ou plusieurs photos 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La réalisation du reste des fonctionnalité dépend du temps  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0" name="CustomShape 2"/>
          <p:cNvSpPr/>
          <p:nvPr/>
        </p:nvSpPr>
        <p:spPr>
          <a:xfrm>
            <a:off x="457200" y="1505880"/>
            <a:ext cx="8228880" cy="14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ctr">
            <a:norm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ffffff"/>
                </a:solidFill>
                <a:latin typeface="Franklin Gothic Book"/>
              </a:rPr>
              <a:t>Buts à atteindre</a:t>
            </a:r>
            <a:endParaRPr b="0" lang="fr-F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459720" y="1960920"/>
            <a:ext cx="822888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ffffff"/>
                </a:solidFill>
                <a:latin typeface="Times New Roman"/>
              </a:rPr>
              <a:t>Bonus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52" name="CustomShape 2"/>
          <p:cNvSpPr/>
          <p:nvPr/>
        </p:nvSpPr>
        <p:spPr>
          <a:xfrm>
            <a:off x="432000" y="3528000"/>
            <a:ext cx="8228880" cy="316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Application mobile</a:t>
            </a: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Analyse d’émotions.</a:t>
            </a:r>
            <a:endParaRPr b="0" lang="fr-F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457200" y="1935360"/>
            <a:ext cx="822888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fr-FR" sz="4000" spc="-1" strike="noStrike">
                <a:solidFill>
                  <a:srgbClr val="ffffff"/>
                </a:solidFill>
                <a:latin typeface="Times New Roman"/>
              </a:rPr>
              <a:t>Mots clés initiaux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504000" y="3240000"/>
            <a:ext cx="8228880" cy="30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Machine learning</a:t>
            </a: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Apprentissage supervisé</a:t>
            </a: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Deep learning (apprentissage profond)</a:t>
            </a: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Réseaux de neurones</a:t>
            </a: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Reconnaissance faciale</a:t>
            </a: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BD NoSQL</a:t>
            </a:r>
            <a:endParaRPr b="0" lang="fr-FR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TensorFlow / OpenCv</a:t>
            </a:r>
            <a:endParaRPr b="0" lang="fr-F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fr-F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642960" y="3200400"/>
            <a:ext cx="8000280" cy="2871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" charset="2"/>
              <a:buChar char=""/>
            </a:pP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Programmation : </a:t>
            </a:r>
            <a:endParaRPr b="0" lang="fr-FR" sz="2600" spc="-1" strike="noStrike">
              <a:latin typeface="Arial"/>
            </a:endParaRPr>
          </a:p>
          <a:p>
            <a:pPr lvl="1" marL="457200" indent="-21600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" charset="2"/>
              <a:buChar char="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Python(tensorflow, openCV, numpy)</a:t>
            </a:r>
            <a:endParaRPr b="0" lang="fr-FR" sz="24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71"/>
              </a:spcBef>
            </a:pPr>
            <a:endParaRPr b="0" lang="fr-FR" sz="24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Wingdings" charset="2"/>
              <a:buChar char=""/>
            </a:pPr>
            <a:r>
              <a:rPr b="0" lang="fr-FR" sz="2600" spc="-1" strike="noStrike">
                <a:solidFill>
                  <a:srgbClr val="000000"/>
                </a:solidFill>
                <a:latin typeface="Times New Roman"/>
              </a:rPr>
              <a:t>Conception:</a:t>
            </a:r>
            <a:endParaRPr b="0" lang="fr-FR" sz="2600" spc="-1" strike="noStrike">
              <a:latin typeface="Arial"/>
            </a:endParaRPr>
          </a:p>
          <a:p>
            <a:pPr lvl="1" marL="457200" indent="-21600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" charset="2"/>
              <a:buChar char="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JustInMind + inkscape (conception d’interface graphique)</a:t>
            </a:r>
            <a:endParaRPr b="0" lang="fr-FR" sz="2400" spc="-1" strike="noStrike">
              <a:latin typeface="Arial"/>
            </a:endParaRPr>
          </a:p>
          <a:p>
            <a:pPr lvl="1" marL="457200" indent="-21600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" charset="2"/>
              <a:buChar char="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AgroUML(modelisation des diagrammes UML)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</a:pPr>
            <a:endParaRPr b="0" lang="fr-FR" sz="24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457200" y="1505880"/>
            <a:ext cx="8228880" cy="14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9144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ffffff"/>
                </a:solidFill>
                <a:latin typeface="Times New Roman"/>
              </a:rPr>
              <a:t>Technologie utilisée</a:t>
            </a:r>
            <a:endParaRPr b="0" lang="fr-F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457200" y="1935360"/>
            <a:ext cx="822888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ffffff"/>
                </a:solidFill>
                <a:latin typeface="Times New Roman"/>
              </a:rPr>
              <a:t>Fin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360000" y="3384000"/>
            <a:ext cx="8228880" cy="316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endParaRPr b="0" lang="fr-FR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endParaRPr b="0" lang="fr-FR" sz="1800" spc="-1" strike="noStrike">
              <a:latin typeface="Arial"/>
            </a:endParaRPr>
          </a:p>
          <a:p>
            <a:pPr marL="432000" indent="-32364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Perpetua"/>
              </a:rPr>
              <a:t>Pour finir, on va vous montrer une petite vidéo</a:t>
            </a: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endParaRPr b="0" lang="fr-F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218</TotalTime>
  <Application>LibreOffice/6.2.0.3$Windows_X86_64 LibreOffice_project/98c6a8a1c6c7b144ce3cc729e34964b47ce25d62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2019-02-26T11:16:27Z</dcterms:created>
  <dc:creator>Mohamed Mameche</dc:creator>
  <dc:description/>
  <dc:language>fr-FR</dc:language>
  <cp:lastModifiedBy/>
  <dcterms:modified xsi:type="dcterms:W3CDTF">2019-03-09T10:54:36Z</dcterms:modified>
  <cp:revision>30</cp:revision>
  <dc:subject/>
  <dc:title>Detection des intrus en utilisant la reconnaissance faciale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1</vt:i4>
  </property>
  <property fmtid="{D5CDD505-2E9C-101B-9397-08002B2CF9AE}" pid="7" name="Notes">
    <vt:i4>0</vt:i4>
  </property>
  <property fmtid="{D5CDD505-2E9C-101B-9397-08002B2CF9AE}" pid="8" name="PresentationFormat">
    <vt:lpwstr>Affichage à l'écran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11</vt:i4>
  </property>
</Properties>
</file>